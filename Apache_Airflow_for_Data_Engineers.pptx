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75" r:id="rId5"/>
    <p:sldId id="259" r:id="rId6"/>
    <p:sldId id="273" r:id="rId7"/>
    <p:sldId id="261" r:id="rId8"/>
    <p:sldId id="258" r:id="rId9"/>
    <p:sldId id="260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0BDD-B875-6BC0-2C2D-B20248AF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EF815-DB1E-5512-C869-3913DE573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59E5F-E0D7-6B34-76EF-5DF0141DC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AFF56-1611-E00F-E50F-1D1C078767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9504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BE22-C553-A85B-C21A-643DB228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A44F7-4698-0586-B5EE-7E87F3BFF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9F473-325D-B0B1-542C-97A356DD2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44A87-F5C6-C275-9997-00E91D9974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865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A DAG is the workflow blueprint. The graph defines ordering constraints, not necessarily one serial sequence. Independent tasks may run concurrently if capacity is available. A daily schedule repeats the graph in new runs and does not create a cycle. The diagram is cropped from the supplied 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https://airflow.apache.org/docs/apache-airflow-providers-snowflake/stable/_api/airflow/providers/snowflake/hooks/snowflake/index.html</a:t>
            </a:r>
          </a:p>
          <a:p>
            <a:r>
              <a:t>- https://airflow.apache.org/docs/apache-airflow-providers-microsoft-mssql/stable/_api/airflow/providers/microsoft/mssql/hooks/mssql/index.html</a:t>
            </a:r>
          </a:p>
          <a:p>
            <a:endParaRPr/>
          </a:p>
          <a:p>
            <a:r>
              <a:t>Implementation note: for large tables, unload Snowflake data to staged files and use a SQL Server bulk-loading path instead of passing rows through XCom.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https://airflow.apache.org/docs/apache-airflow-providers-snowflake/stable/_api/airflow/providers/snowflake/hooks/snowflake/index.html</a:t>
            </a:r>
          </a:p>
          <a:p>
            <a:r>
              <a:t>- https://airflow.apache.org/docs/apache-airflow-providers-microsoft-mssql/stable/_api/airflow/providers/microsoft/mssql/hooks/mssql/index.html</a:t>
            </a:r>
          </a:p>
          <a:p>
            <a:endParaRPr/>
          </a:p>
          <a:p>
            <a:r>
              <a:t>Presenter note: this is an educational pattern. Add a staging-table MERGE, schema validation, row-count audit, and durable watermark before production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https://airflow.apache.org/docs/apache-airflow/stable/core-concepts/overview.html</a:t>
            </a:r>
          </a:p>
          <a:p>
            <a:r>
              <a:t>- https://airflow.apache.org/docs/apache-airflow/stable/core-concepts/dags.html</a:t>
            </a:r>
          </a:p>
          <a:p>
            <a:r>
              <a:t>- https://airflow.apache.org/docs/apache-airflow/stable/concepts/scheduler.html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https://airflow.apache.org/docs/helm-chart/stable/production-guide.html</a:t>
            </a:r>
          </a:p>
          <a:p>
            <a:r>
              <a:t>- https://airflow.apache.org/docs/helm-chart/stable/index.html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932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FD75BB-6729-4A0F-AD3E-7D97AD6A1303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APACHE AIRFLOW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DE1AA-A471-4A36-A44B-C1E3BC9AA561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7429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Orchestrating reliable</a:t>
            </a:r>
          </a:p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workflows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578AC0-5407-4D2A-B793-E5406D56D8B8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638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 practical introduction for data engineers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7F735-18B8-4A41-A935-02DC7A955EFE}"/>
              </a:ext>
            </a:extLst>
          </p:cNvPr>
          <p:cNvSpPr>
            <a:spLocks noGrp="1"/>
          </p:cNvSpPr>
          <p:nvPr/>
        </p:nvSpPr>
        <p:spPr>
          <a:xfrm>
            <a:off x="9620250" y="666750"/>
            <a:ext cx="1809750" cy="49530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D2304-F388-4DF2-B876-46071C3787F3}"/>
              </a:ext>
            </a:extLst>
          </p:cNvPr>
          <p:cNvSpPr>
            <a:spLocks noGrp="1"/>
          </p:cNvSpPr>
          <p:nvPr/>
        </p:nvSpPr>
        <p:spPr>
          <a:xfrm>
            <a:off x="9858375" y="2619375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DAG</a:t>
            </a:r>
          </a:p>
        </p:txBody>
      </p:sp>
    </p:spTree>
    <p:extLst>
      <p:ext uri="{BB962C8B-B14F-4D97-AF65-F5344CB8AC3E}">
        <p14:creationId xmlns:p14="http://schemas.microsoft.com/office/powerpoint/2010/main" val="134852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C57203-3FB0-4631-8AD8-7BD25EDA85FE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coordinates work; it does not move the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DC54D1-1083-415E-8045-52E3FAF8BBF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0D5C0-4B3C-46EB-AFBD-21E62F148066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6194FF-EE99-43AC-A91E-FD927EE883FD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Workflows as code: tasks, dependencies, schedules and operational rules.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0D9CA-CEDE-4481-AFD2-598C8F5B2FF2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6DF97-4CDA-43F4-9277-AC044460ECD3}"/>
              </a:ext>
            </a:extLst>
          </p:cNvPr>
          <p:cNvSpPr>
            <a:spLocks noGrp="1"/>
          </p:cNvSpPr>
          <p:nvPr/>
        </p:nvSpPr>
        <p:spPr>
          <a:xfrm>
            <a:off x="4381500" y="2333625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See runs, logs, retries, duration and failures in one operational surface.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26EDC-78E2-404A-9E08-C943AFAC23A3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F02B98-C181-414C-84C6-CEF41B890762}"/>
              </a:ext>
            </a:extLst>
          </p:cNvPr>
          <p:cNvSpPr>
            <a:spLocks noGrp="1"/>
          </p:cNvSpPr>
          <p:nvPr/>
        </p:nvSpPr>
        <p:spPr>
          <a:xfrm>
            <a:off x="8362950" y="2333625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Retry safely, rerun selected tasks and backfill historical intervals.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35003-B633-4153-8774-1366F58BBC12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0810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is the control plane around your pipelines.</a:t>
            </a:r>
          </a:p>
        </p:txBody>
      </p:sp>
    </p:spTree>
    <p:extLst>
      <p:ext uri="{BB962C8B-B14F-4D97-AF65-F5344CB8AC3E}">
        <p14:creationId xmlns:p14="http://schemas.microsoft.com/office/powerpoint/2010/main" val="189100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B5A54-0FCC-E461-BB8B-3FCB2666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FE7AF10-6AC3-CF3A-A631-1CA40A59FA97}"/>
              </a:ext>
            </a:extLst>
          </p:cNvPr>
          <p:cNvSpPr>
            <a:spLocks noGrp="1"/>
          </p:cNvSpPr>
          <p:nvPr/>
        </p:nvSpPr>
        <p:spPr>
          <a:xfrm>
            <a:off x="304256" y="30955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</a:t>
            </a:r>
            <a:r>
              <a:rPr lang="en-IN"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 not for</a:t>
            </a:r>
            <a:endParaRPr sz="29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B7E7AD-D5C7-4CF9-BF0A-C382D952B7A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250173-7205-CDBB-3A37-8F97C8AC6B92}"/>
              </a:ext>
            </a:extLst>
          </p:cNvPr>
          <p:cNvSpPr>
            <a:spLocks noGrp="1"/>
          </p:cNvSpPr>
          <p:nvPr/>
        </p:nvSpPr>
        <p:spPr>
          <a:xfrm>
            <a:off x="304256" y="773906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21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Not for Transformation</a:t>
            </a:r>
            <a:endParaRPr sz="21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F9097-E35F-B2F0-5347-455CCD87FF7C}"/>
              </a:ext>
            </a:extLst>
          </p:cNvPr>
          <p:cNvSpPr>
            <a:spLocks noGrp="1"/>
          </p:cNvSpPr>
          <p:nvPr/>
        </p:nvSpPr>
        <p:spPr>
          <a:xfrm>
            <a:off x="400050" y="1466848"/>
            <a:ext cx="3143250" cy="814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Workflows </a:t>
            </a:r>
            <a:r>
              <a:rPr lang="en-IN"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its self do any Transformation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50550-1A7F-FA53-65FB-8199899D589F}"/>
              </a:ext>
            </a:extLst>
          </p:cNvPr>
          <p:cNvSpPr>
            <a:spLocks noGrp="1"/>
          </p:cNvSpPr>
          <p:nvPr/>
        </p:nvSpPr>
        <p:spPr>
          <a:xfrm>
            <a:off x="4216037" y="77390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21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Not for ETL/ELT</a:t>
            </a:r>
            <a:endParaRPr sz="21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23A2D-4689-767C-D7C3-13E508AC727D}"/>
              </a:ext>
            </a:extLst>
          </p:cNvPr>
          <p:cNvSpPr>
            <a:spLocks noGrp="1"/>
          </p:cNvSpPr>
          <p:nvPr/>
        </p:nvSpPr>
        <p:spPr>
          <a:xfrm>
            <a:off x="4311831" y="1466848"/>
            <a:ext cx="3143250" cy="814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is not a tool to build ETL / ELT data pipelines</a:t>
            </a:r>
            <a:endParaRPr sz="157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E4382-54C7-8BA0-61E9-BFAA0028BE08}"/>
              </a:ext>
            </a:extLst>
          </p:cNvPr>
          <p:cNvSpPr>
            <a:spLocks noGrp="1"/>
          </p:cNvSpPr>
          <p:nvPr/>
        </p:nvSpPr>
        <p:spPr>
          <a:xfrm>
            <a:off x="8267156" y="77390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21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Not for Steaming</a:t>
            </a:r>
            <a:endParaRPr sz="21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5FBA4-59CB-4ABF-71B3-A4E523B66111}"/>
              </a:ext>
            </a:extLst>
          </p:cNvPr>
          <p:cNvSpPr>
            <a:spLocks noGrp="1"/>
          </p:cNvSpPr>
          <p:nvPr/>
        </p:nvSpPr>
        <p:spPr>
          <a:xfrm>
            <a:off x="8301990" y="167218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not used for streaming or live data workloads.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is for batch data workloads.</a:t>
            </a:r>
            <a:endParaRPr sz="157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EC6063-F951-3BEF-27AF-6026431DF282}"/>
              </a:ext>
            </a:extLst>
          </p:cNvPr>
          <p:cNvSpPr>
            <a:spLocks noGrp="1"/>
          </p:cNvSpPr>
          <p:nvPr/>
        </p:nvSpPr>
        <p:spPr>
          <a:xfrm>
            <a:off x="400050" y="2438127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Airflow when coordination is the hard part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44D0F2-3184-3EBE-6E48-2653BE58B939}"/>
              </a:ext>
            </a:extLst>
          </p:cNvPr>
          <p:cNvSpPr>
            <a:spLocks noGrp="1"/>
          </p:cNvSpPr>
          <p:nvPr/>
        </p:nvSpPr>
        <p:spPr>
          <a:xfrm>
            <a:off x="400050" y="3248299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Good fit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52D265-DAD6-E534-817E-0D341515E71E}"/>
              </a:ext>
            </a:extLst>
          </p:cNvPr>
          <p:cNvSpPr>
            <a:spLocks noGrp="1"/>
          </p:cNvSpPr>
          <p:nvPr/>
        </p:nvSpPr>
        <p:spPr>
          <a:xfrm>
            <a:off x="6424749" y="3277349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E45756"/>
                </a:solidFill>
                <a:latin typeface="Arial"/>
                <a:ea typeface="Arial"/>
                <a:cs typeface="Arial"/>
              </a:rPr>
              <a:t>Poor fit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59773C-DEFC-F90A-3169-22AB5A020134}"/>
              </a:ext>
            </a:extLst>
          </p:cNvPr>
          <p:cNvSpPr>
            <a:spLocks noGrp="1"/>
          </p:cNvSpPr>
          <p:nvPr/>
        </p:nvSpPr>
        <p:spPr>
          <a:xfrm>
            <a:off x="304256" y="3179921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✓ Batch and scheduled pipelines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✓ Multi-system dependencies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✓ Backfills and reruns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✓ Workflows that need auditability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268EA4-5C31-7BF8-F29A-6E1A7A4B9C34}"/>
              </a:ext>
            </a:extLst>
          </p:cNvPr>
          <p:cNvSpPr>
            <a:spLocks noGrp="1"/>
          </p:cNvSpPr>
          <p:nvPr/>
        </p:nvSpPr>
        <p:spPr>
          <a:xfrm>
            <a:off x="6381206" y="3179921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Millisecond event processing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Data transport or storage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Long-running application services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Computation that belongs in a warehouse or engine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13B47B-BCC4-CD2D-CEA1-109EB9CF53A8}"/>
              </a:ext>
            </a:extLst>
          </p:cNvPr>
          <p:cNvSpPr>
            <a:spLocks noGrp="1"/>
          </p:cNvSpPr>
          <p:nvPr/>
        </p:nvSpPr>
        <p:spPr>
          <a:xfrm>
            <a:off x="304256" y="5717482"/>
            <a:ext cx="1066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Airflow orchestrates tools such as </a:t>
            </a:r>
            <a:r>
              <a:rPr sz="1875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dbt</a:t>
            </a:r>
            <a:r>
              <a:rPr sz="18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, Spark, warehouses, APIs and containers.</a:t>
            </a:r>
          </a:p>
        </p:txBody>
      </p:sp>
    </p:spTree>
    <p:extLst>
      <p:ext uri="{BB962C8B-B14F-4D97-AF65-F5344CB8AC3E}">
        <p14:creationId xmlns:p14="http://schemas.microsoft.com/office/powerpoint/2010/main" val="368414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F6384-0C24-E44D-22BE-2B89E0F5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67B69E6-2BE5-70CA-CE00-CF1944561F81}"/>
              </a:ext>
            </a:extLst>
          </p:cNvPr>
          <p:cNvSpPr>
            <a:spLocks noGrp="1"/>
          </p:cNvSpPr>
          <p:nvPr/>
        </p:nvSpPr>
        <p:spPr>
          <a:xfrm>
            <a:off x="75260" y="-97427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                            </a:t>
            </a: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</a:t>
            </a:r>
            <a:r>
              <a:rPr lang="en-IN"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Architecture</a:t>
            </a:r>
            <a:endParaRPr sz="29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5104A4-BE2A-ABCC-E4A9-DFA7E0F26BE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E1A99F-813D-4500-C4F9-EA2656B1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412" y="1390545"/>
            <a:ext cx="8331628" cy="4076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4E44E5-BAE1-C62C-30BC-78C43A13E0CF}"/>
              </a:ext>
            </a:extLst>
          </p:cNvPr>
          <p:cNvSpPr>
            <a:spLocks noGrp="1"/>
          </p:cNvSpPr>
          <p:nvPr/>
        </p:nvSpPr>
        <p:spPr>
          <a:xfrm>
            <a:off x="245473" y="725502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Processor: 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Scan </a:t>
            </a:r>
            <a:r>
              <a:rPr lang="en-IN" sz="157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dags</a:t>
            </a: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folder and extract the DAG structure.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 serialized (JSON like) DAG metadata in Metadata DB (Postgres DB)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IN"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BC90AA-EECE-155C-B9B8-989807A91390}"/>
              </a:ext>
            </a:extLst>
          </p:cNvPr>
          <p:cNvSpPr>
            <a:spLocks noGrp="1"/>
          </p:cNvSpPr>
          <p:nvPr/>
        </p:nvSpPr>
        <p:spPr>
          <a:xfrm>
            <a:off x="245473" y="2073760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UI: 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Get the Dag structure / progress form Postgres </a:t>
            </a:r>
            <a:r>
              <a:rPr lang="en-IN" sz="1575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db</a:t>
            </a: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using API call and show it in WEB server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IN"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A51F3B-C4B3-8DEC-32A1-8D29900D248F}"/>
              </a:ext>
            </a:extLst>
          </p:cNvPr>
          <p:cNvSpPr>
            <a:spLocks noGrp="1"/>
          </p:cNvSpPr>
          <p:nvPr/>
        </p:nvSpPr>
        <p:spPr>
          <a:xfrm>
            <a:off x="245473" y="3349021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Scheduler: 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task to  execute next and when to execute . 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Get’s these details from DAG using API call connected to Postgres DB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IN"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78258E-6384-0048-E21C-D220D7C9C497}"/>
              </a:ext>
            </a:extLst>
          </p:cNvPr>
          <p:cNvSpPr>
            <a:spLocks noGrp="1"/>
          </p:cNvSpPr>
          <p:nvPr/>
        </p:nvSpPr>
        <p:spPr>
          <a:xfrm>
            <a:off x="245473" y="4946018"/>
            <a:ext cx="314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Executor: 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each task in queue (Execution Queue) .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Creates plan how to execute each tasks.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Finds the worker required and track the status from worker.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IN"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575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942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5159C3A-95C3-49FD-BDF7-5D2694C8ED35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scheduler decides; executors and workers perform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524AC-EE1B-4E51-AFD3-B6BABBEEE70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8B8F7A-0C5C-4A13-82DC-14A5E2F8C418}"/>
              </a:ext>
            </a:extLst>
          </p:cNvPr>
          <p:cNvSpPr>
            <a:spLocks noGrp="1"/>
          </p:cNvSpPr>
          <p:nvPr/>
        </p:nvSpPr>
        <p:spPr>
          <a:xfrm>
            <a:off x="3286125" y="2524125"/>
            <a:ext cx="109537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1B8D9-D236-4ED9-9784-0A90019C08D7}"/>
              </a:ext>
            </a:extLst>
          </p:cNvPr>
          <p:cNvSpPr>
            <a:spLocks noGrp="1"/>
          </p:cNvSpPr>
          <p:nvPr/>
        </p:nvSpPr>
        <p:spPr>
          <a:xfrm>
            <a:off x="3286125" y="4429125"/>
            <a:ext cx="109537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25BF28-EC77-453A-8503-695DCCC58FA8}"/>
              </a:ext>
            </a:extLst>
          </p:cNvPr>
          <p:cNvSpPr>
            <a:spLocks noGrp="1"/>
          </p:cNvSpPr>
          <p:nvPr/>
        </p:nvSpPr>
        <p:spPr>
          <a:xfrm>
            <a:off x="7000875" y="3476625"/>
            <a:ext cx="1143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75CA6-EFB3-495D-ABA5-B3DAA3433C54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2762250" cy="11906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B7BA47-CE51-40C2-820C-F21BF1194683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bundle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DCD9C-7853-4E36-8E73-9BA213F4CFBB}"/>
              </a:ext>
            </a:extLst>
          </p:cNvPr>
          <p:cNvSpPr>
            <a:spLocks noGrp="1"/>
          </p:cNvSpPr>
          <p:nvPr/>
        </p:nvSpPr>
        <p:spPr>
          <a:xfrm>
            <a:off x="714375" y="239077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Versioned workflow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68311-267E-4BE9-8401-7569B112179E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2762250" cy="11906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10CFAC-75AF-4859-A10A-2C6AD80D102D}"/>
              </a:ext>
            </a:extLst>
          </p:cNvPr>
          <p:cNvSpPr>
            <a:spLocks noGrp="1"/>
          </p:cNvSpPr>
          <p:nvPr/>
        </p:nvSpPr>
        <p:spPr>
          <a:xfrm>
            <a:off x="714375" y="3886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C2137E-6420-4FF8-B2A5-64241578277F}"/>
              </a:ext>
            </a:extLst>
          </p:cNvPr>
          <p:cNvSpPr>
            <a:spLocks noGrp="1"/>
          </p:cNvSpPr>
          <p:nvPr/>
        </p:nvSpPr>
        <p:spPr>
          <a:xfrm>
            <a:off x="714375" y="429577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Parses and serializes DAGs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2E918C-DD88-49FA-BFBB-2046691875B9}"/>
              </a:ext>
            </a:extLst>
          </p:cNvPr>
          <p:cNvSpPr>
            <a:spLocks noGrp="1"/>
          </p:cNvSpPr>
          <p:nvPr/>
        </p:nvSpPr>
        <p:spPr>
          <a:xfrm>
            <a:off x="4381500" y="2762250"/>
            <a:ext cx="2762250" cy="1190625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9F615-EABD-4058-817D-14AC8FC7E6A6}"/>
              </a:ext>
            </a:extLst>
          </p:cNvPr>
          <p:cNvSpPr>
            <a:spLocks noGrp="1"/>
          </p:cNvSpPr>
          <p:nvPr/>
        </p:nvSpPr>
        <p:spPr>
          <a:xfrm>
            <a:off x="4572000" y="2933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225AA-6ADC-4F4C-B552-65F1265789F9}"/>
              </a:ext>
            </a:extLst>
          </p:cNvPr>
          <p:cNvSpPr>
            <a:spLocks noGrp="1"/>
          </p:cNvSpPr>
          <p:nvPr/>
        </p:nvSpPr>
        <p:spPr>
          <a:xfrm>
            <a:off x="4572000" y="334327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Finds runnable task instances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7AF72-A51B-463E-967F-5D237361AB65}"/>
              </a:ext>
            </a:extLst>
          </p:cNvPr>
          <p:cNvSpPr>
            <a:spLocks noGrp="1"/>
          </p:cNvSpPr>
          <p:nvPr/>
        </p:nvSpPr>
        <p:spPr>
          <a:xfrm>
            <a:off x="8143875" y="1809750"/>
            <a:ext cx="2762250" cy="11906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70E2BB-FDD0-4A72-A374-D7A558730089}"/>
              </a:ext>
            </a:extLst>
          </p:cNvPr>
          <p:cNvSpPr>
            <a:spLocks noGrp="1"/>
          </p:cNvSpPr>
          <p:nvPr/>
        </p:nvSpPr>
        <p:spPr>
          <a:xfrm>
            <a:off x="8334375" y="1981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Executor / workers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02CE7D-9441-41A6-A169-053AC34C93DE}"/>
              </a:ext>
            </a:extLst>
          </p:cNvPr>
          <p:cNvSpPr>
            <a:spLocks noGrp="1"/>
          </p:cNvSpPr>
          <p:nvPr/>
        </p:nvSpPr>
        <p:spPr>
          <a:xfrm>
            <a:off x="8334375" y="239077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Launch task workloads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691BD1-299D-4743-BEC8-446613395A48}"/>
              </a:ext>
            </a:extLst>
          </p:cNvPr>
          <p:cNvSpPr>
            <a:spLocks noGrp="1"/>
          </p:cNvSpPr>
          <p:nvPr/>
        </p:nvSpPr>
        <p:spPr>
          <a:xfrm>
            <a:off x="8143875" y="3714750"/>
            <a:ext cx="2762250" cy="11906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7A46F-0AD8-4658-9D17-F3AAB3B44D4A}"/>
              </a:ext>
            </a:extLst>
          </p:cNvPr>
          <p:cNvSpPr>
            <a:spLocks noGrp="1"/>
          </p:cNvSpPr>
          <p:nvPr/>
        </p:nvSpPr>
        <p:spPr>
          <a:xfrm>
            <a:off x="8334375" y="3886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Metadata DB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DF3DB5-4C34-43CD-A279-E35744DE769A}"/>
              </a:ext>
            </a:extLst>
          </p:cNvPr>
          <p:cNvSpPr>
            <a:spLocks noGrp="1"/>
          </p:cNvSpPr>
          <p:nvPr/>
        </p:nvSpPr>
        <p:spPr>
          <a:xfrm>
            <a:off x="8334375" y="429577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Stores state and configuration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3CE121-4855-4663-B07C-D87AE6A2D408}"/>
              </a:ext>
            </a:extLst>
          </p:cNvPr>
          <p:cNvSpPr>
            <a:spLocks noGrp="1"/>
          </p:cNvSpPr>
          <p:nvPr/>
        </p:nvSpPr>
        <p:spPr>
          <a:xfrm>
            <a:off x="4381500" y="4810125"/>
            <a:ext cx="657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API server + UI make workflow state visible and operable.</a:t>
            </a:r>
          </a:p>
        </p:txBody>
      </p:sp>
    </p:spTree>
    <p:extLst>
      <p:ext uri="{BB962C8B-B14F-4D97-AF65-F5344CB8AC3E}">
        <p14:creationId xmlns:p14="http://schemas.microsoft.com/office/powerpoint/2010/main" val="83346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C714E1C-8105-4183-B209-2FE3C3DF1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76040"/>
            <a:ext cx="5537200" cy="381835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latin typeface="Helvetica Neue"/>
                <a:ea typeface="Helvetica Neue"/>
                <a:cs typeface="Helvetica Neue"/>
              </a:rPr>
              <a:t>Directed</a:t>
            </a:r>
            <a:r>
              <a:rPr sz="2000" dirty="0">
                <a:latin typeface="Helvetica Neue"/>
                <a:ea typeface="Helvetica Neue"/>
                <a:cs typeface="Helvetica Neue"/>
              </a:rPr>
              <a:t>: dependencies have a direction.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>
                <a:latin typeface="Helvetica Neue"/>
                <a:ea typeface="Helvetica Neue"/>
                <a:cs typeface="Helvetica Neu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latin typeface="Helvetica Neue"/>
                <a:ea typeface="Helvetica Neue"/>
                <a:cs typeface="Helvetica Neue"/>
              </a:rPr>
              <a:t>Acyclic</a:t>
            </a:r>
            <a:r>
              <a:rPr sz="2000" dirty="0">
                <a:latin typeface="Helvetica Neue"/>
                <a:ea typeface="Helvetica Neue"/>
                <a:cs typeface="Helvetica Neue"/>
              </a:rPr>
              <a:t>: no dependency path loops back.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>
                <a:latin typeface="Helvetica Neue"/>
                <a:ea typeface="Helvetica Neue"/>
                <a:cs typeface="Helvetica Neu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latin typeface="Helvetica Neue"/>
                <a:ea typeface="Helvetica Neue"/>
                <a:cs typeface="Helvetica Neue"/>
              </a:rPr>
              <a:t>Graph</a:t>
            </a:r>
            <a:r>
              <a:rPr sz="2000" dirty="0">
                <a:latin typeface="Helvetica Neue"/>
                <a:ea typeface="Helvetica Neue"/>
                <a:cs typeface="Helvetica Neue"/>
              </a:rPr>
              <a:t>: tasks connect through dependencies.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200CF15E-48AD-4902-BCBC-7EC9A46A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51959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3200"/>
              <a:t>DAGs define the workflow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noGrp="1"/>
          </p:cNvSpPr>
          <p:nvPr/>
        </p:nvSpPr>
        <p:spPr>
          <a:xfrm>
            <a:off x="6265111" y="2176040"/>
            <a:ext cx="5537200" cy="381835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noGrp="1"/>
          </p:cNvSpPr>
          <p:nvPr/>
        </p:nvSpPr>
        <p:spPr>
          <a:xfrm>
            <a:off x="400939" y="1041400"/>
            <a:ext cx="11404599" cy="845273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DAG means Directed Acyclic Graph.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>4</a:t>
            </a:r>
          </a:p>
        </p:txBody>
      </p:sp>
      <p:pic>
        <p:nvPicPr>
          <p:cNvPr id="542" name="Picture 5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4204" y="1336540"/>
            <a:ext cx="5514975" cy="25874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F0A12A-EAAC-50CF-73C3-D0AB4F751FC9}"/>
              </a:ext>
            </a:extLst>
          </p:cNvPr>
          <p:cNvSpPr>
            <a:spLocks noGrp="1"/>
          </p:cNvSpPr>
          <p:nvPr/>
        </p:nvSpPr>
        <p:spPr>
          <a:xfrm>
            <a:off x="252821" y="3713744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IN"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 of </a:t>
            </a:r>
            <a:r>
              <a:rPr sz="29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5F51C-2B8A-CB27-98E3-49053F29B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99" y="4456694"/>
            <a:ext cx="4178515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2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15A012C-78DE-47B2-8481-3D3BD94096CB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code describes orchestration, not business logic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4F1BF-A65B-4B93-80E2-CCDB4ED7425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CC8ED6-5D1E-4C32-B7BB-7A5405947024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476875" cy="409575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9255-ADC0-42E4-B7E8-7D61FCE9483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953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@dag(schedule='0 2 * * *', catchup=False)</a:t>
            </a:r>
          </a:p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def daily_orders():</a:t>
            </a:r>
          </a:p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    raw = extract()</a:t>
            </a:r>
          </a:p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    clean = validate(raw)</a:t>
            </a:r>
          </a:p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    publish(clean)</a:t>
            </a:r>
          </a:p>
          <a:p>
            <a:endParaRPr sz="1650" b="0">
              <a:solidFill>
                <a:srgbClr val="D0EDFA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EDFA"/>
                </a:solidFill>
                <a:latin typeface="Arial"/>
                <a:ea typeface="Arial"/>
                <a:cs typeface="Arial"/>
              </a:rPr>
              <a:t>daily_orders()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408A9-E1E5-4A6C-B08A-F242AAC2EA1F}"/>
              </a:ext>
            </a:extLst>
          </p:cNvPr>
          <p:cNvSpPr>
            <a:spLocks noGrp="1"/>
          </p:cNvSpPr>
          <p:nvPr/>
        </p:nvSpPr>
        <p:spPr>
          <a:xfrm>
            <a:off x="6477000" y="1666875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Keep in the DAG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A5F65-5864-4C36-93A2-87B604EFD0BA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Dependencies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Schedule and retries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Resource and pool hints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Notifications and ownership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53039-7425-41F8-B01F-EFB3F5B58BDD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Keep in tested modules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8ABF3-C23A-48A5-8FD4-42D8282F6129}"/>
              </a:ext>
            </a:extLst>
          </p:cNvPr>
          <p:cNvSpPr>
            <a:spLocks noGrp="1"/>
          </p:cNvSpPr>
          <p:nvPr/>
        </p:nvSpPr>
        <p:spPr>
          <a:xfrm>
            <a:off x="6477000" y="4572000"/>
            <a:ext cx="4476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SQL, transformations, API clients and domain rules.</a:t>
            </a:r>
          </a:p>
        </p:txBody>
      </p:sp>
    </p:spTree>
    <p:extLst>
      <p:ext uri="{BB962C8B-B14F-4D97-AF65-F5344CB8AC3E}">
        <p14:creationId xmlns:p14="http://schemas.microsoft.com/office/powerpoint/2010/main" val="181885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7563C18-6B63-405E-9741-C27427F5F5CD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DAG turns a pipeline into an explicit dependency graph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B2B50-F01E-4A30-921B-1BBD1C23FC8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84E10-8944-47A4-B28D-C566C7F3A560}"/>
              </a:ext>
            </a:extLst>
          </p:cNvPr>
          <p:cNvSpPr>
            <a:spLocks noGrp="1"/>
          </p:cNvSpPr>
          <p:nvPr/>
        </p:nvSpPr>
        <p:spPr>
          <a:xfrm>
            <a:off x="2381250" y="3209925"/>
            <a:ext cx="17145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E578C-92DC-4199-A982-D54AEE862B91}"/>
              </a:ext>
            </a:extLst>
          </p:cNvPr>
          <p:cNvSpPr>
            <a:spLocks noGrp="1"/>
          </p:cNvSpPr>
          <p:nvPr/>
        </p:nvSpPr>
        <p:spPr>
          <a:xfrm>
            <a:off x="5810250" y="3209925"/>
            <a:ext cx="17145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D0337-56D9-4E73-B390-9E26CB9F6605}"/>
              </a:ext>
            </a:extLst>
          </p:cNvPr>
          <p:cNvSpPr>
            <a:spLocks noGrp="1"/>
          </p:cNvSpPr>
          <p:nvPr/>
        </p:nvSpPr>
        <p:spPr>
          <a:xfrm>
            <a:off x="9239250" y="3209925"/>
            <a:ext cx="1143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F6D24F-0F3C-4C4B-A4F5-33F416C4A322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7DE86C-0160-4793-9227-2F01B40BD800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614AD0-91CF-43F8-B38C-3975C978398C}"/>
              </a:ext>
            </a:extLst>
          </p:cNvPr>
          <p:cNvSpPr>
            <a:spLocks noGrp="1"/>
          </p:cNvSpPr>
          <p:nvPr/>
        </p:nvSpPr>
        <p:spPr>
          <a:xfrm>
            <a:off x="4095750" y="2714625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9D190-BF56-4735-A0D6-B297E6E2E087}"/>
              </a:ext>
            </a:extLst>
          </p:cNvPr>
          <p:cNvSpPr>
            <a:spLocks noGrp="1"/>
          </p:cNvSpPr>
          <p:nvPr/>
        </p:nvSpPr>
        <p:spPr>
          <a:xfrm>
            <a:off x="4095750" y="2905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1F8823-76D2-4076-87F8-D9E578799904}"/>
              </a:ext>
            </a:extLst>
          </p:cNvPr>
          <p:cNvSpPr>
            <a:spLocks noGrp="1"/>
          </p:cNvSpPr>
          <p:nvPr/>
        </p:nvSpPr>
        <p:spPr>
          <a:xfrm>
            <a:off x="7524750" y="2714625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8B327B-C5C7-43B4-9DD0-2642DBBEB5D8}"/>
              </a:ext>
            </a:extLst>
          </p:cNvPr>
          <p:cNvSpPr>
            <a:spLocks noGrp="1"/>
          </p:cNvSpPr>
          <p:nvPr/>
        </p:nvSpPr>
        <p:spPr>
          <a:xfrm>
            <a:off x="7524750" y="2905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E78759-EBF2-4F95-AF4D-A80FFCDBEAF2}"/>
              </a:ext>
            </a:extLst>
          </p:cNvPr>
          <p:cNvSpPr>
            <a:spLocks noGrp="1"/>
          </p:cNvSpPr>
          <p:nvPr/>
        </p:nvSpPr>
        <p:spPr>
          <a:xfrm>
            <a:off x="10382250" y="2714625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2A9D6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9E8DAF-35E5-4F52-B984-B8DC568D815E}"/>
              </a:ext>
            </a:extLst>
          </p:cNvPr>
          <p:cNvSpPr>
            <a:spLocks noGrp="1"/>
          </p:cNvSpPr>
          <p:nvPr/>
        </p:nvSpPr>
        <p:spPr>
          <a:xfrm>
            <a:off x="10382250" y="2905125"/>
            <a:ext cx="161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AD5B8F-2609-463E-8FF8-07D7AF10799E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1331ED-AEB7-4484-A003-46F0DF052DB7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2476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Dependencies show what must happen first.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34FAC3-FE2B-49CB-B1D0-9CCD56522AFE}"/>
              </a:ext>
            </a:extLst>
          </p:cNvPr>
          <p:cNvSpPr>
            <a:spLocks noGrp="1"/>
          </p:cNvSpPr>
          <p:nvPr/>
        </p:nvSpPr>
        <p:spPr>
          <a:xfrm>
            <a:off x="4095750" y="4333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Acyclic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2944B7-DCB6-46D2-B3E3-C5B4A01862DD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2476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No task can eventually depend on itself.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9A097C-346C-49DC-9AFC-20C29762698F}"/>
              </a:ext>
            </a:extLst>
          </p:cNvPr>
          <p:cNvSpPr>
            <a:spLocks noGrp="1"/>
          </p:cNvSpPr>
          <p:nvPr/>
        </p:nvSpPr>
        <p:spPr>
          <a:xfrm>
            <a:off x="7524750" y="4333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E7C74A-CCD9-4FA9-89FD-EBD217CC63F7}"/>
              </a:ext>
            </a:extLst>
          </p:cNvPr>
          <p:cNvSpPr>
            <a:spLocks noGrp="1"/>
          </p:cNvSpPr>
          <p:nvPr/>
        </p:nvSpPr>
        <p:spPr>
          <a:xfrm>
            <a:off x="7524750" y="4762500"/>
            <a:ext cx="266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Each run represents a defined data interval.</a:t>
            </a:r>
          </a:p>
        </p:txBody>
      </p:sp>
    </p:spTree>
    <p:extLst>
      <p:ext uri="{BB962C8B-B14F-4D97-AF65-F5344CB8AC3E}">
        <p14:creationId xmlns:p14="http://schemas.microsoft.com/office/powerpoint/2010/main" val="199183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7D02B8-4CA1-4BBF-9DD1-CD2AEB6F1652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run follows a predictable lifecycle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106F3-CCFB-4A63-8F35-66E47CF25F1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41385-0BC1-4F8B-AB3F-A1865715E9B2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11096625" cy="285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89418F-9169-49D2-9E07-5249C6097634}"/>
              </a:ext>
            </a:extLst>
          </p:cNvPr>
          <p:cNvSpPr>
            <a:spLocks noGrp="1"/>
          </p:cNvSpPr>
          <p:nvPr/>
        </p:nvSpPr>
        <p:spPr>
          <a:xfrm>
            <a:off x="523875" y="31623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EB49A-135A-4B90-941D-92012702BD37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400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46B92-2567-4A90-9514-848DA34D73D8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1A522-5582-4BC0-92DD-D4E18179EAC1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DAG processor reads workflow code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6018AD-C93C-4E0D-9651-15CC06F832B4}"/>
              </a:ext>
            </a:extLst>
          </p:cNvPr>
          <p:cNvSpPr>
            <a:spLocks noGrp="1"/>
          </p:cNvSpPr>
          <p:nvPr/>
        </p:nvSpPr>
        <p:spPr>
          <a:xfrm>
            <a:off x="2743200" y="31623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7F76-9873-46B7-8C7E-DC14E1DAB6B7}"/>
              </a:ext>
            </a:extLst>
          </p:cNvPr>
          <p:cNvSpPr>
            <a:spLocks noGrp="1"/>
          </p:cNvSpPr>
          <p:nvPr/>
        </p:nvSpPr>
        <p:spPr>
          <a:xfrm>
            <a:off x="2743200" y="2476500"/>
            <a:ext cx="400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DCC702-DF1F-4B7B-A274-31D1033D2B7F}"/>
              </a:ext>
            </a:extLst>
          </p:cNvPr>
          <p:cNvSpPr>
            <a:spLocks noGrp="1"/>
          </p:cNvSpPr>
          <p:nvPr/>
        </p:nvSpPr>
        <p:spPr>
          <a:xfrm>
            <a:off x="2743200" y="36671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33FFD-DC7A-4238-A55B-9C22D6D2B8C7}"/>
              </a:ext>
            </a:extLst>
          </p:cNvPr>
          <p:cNvSpPr>
            <a:spLocks noGrp="1"/>
          </p:cNvSpPr>
          <p:nvPr/>
        </p:nvSpPr>
        <p:spPr>
          <a:xfrm>
            <a:off x="2743200" y="4095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Scheduler creates a DAG run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F7FFEA-A481-4D9B-9C42-11038C4FC0DB}"/>
              </a:ext>
            </a:extLst>
          </p:cNvPr>
          <p:cNvSpPr>
            <a:spLocks noGrp="1"/>
          </p:cNvSpPr>
          <p:nvPr/>
        </p:nvSpPr>
        <p:spPr>
          <a:xfrm>
            <a:off x="4962525" y="31623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260E95-5715-48B4-8477-4B60090FBBCD}"/>
              </a:ext>
            </a:extLst>
          </p:cNvPr>
          <p:cNvSpPr>
            <a:spLocks noGrp="1"/>
          </p:cNvSpPr>
          <p:nvPr/>
        </p:nvSpPr>
        <p:spPr>
          <a:xfrm>
            <a:off x="4962525" y="2476500"/>
            <a:ext cx="400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2585A-09C1-46AC-BD7B-AF5EC8FEE417}"/>
              </a:ext>
            </a:extLst>
          </p:cNvPr>
          <p:cNvSpPr>
            <a:spLocks noGrp="1"/>
          </p:cNvSpPr>
          <p:nvPr/>
        </p:nvSpPr>
        <p:spPr>
          <a:xfrm>
            <a:off x="4962525" y="36671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F319EF-3549-4F3B-BC88-FD62239AFB8C}"/>
              </a:ext>
            </a:extLst>
          </p:cNvPr>
          <p:cNvSpPr>
            <a:spLocks noGrp="1"/>
          </p:cNvSpPr>
          <p:nvPr/>
        </p:nvSpPr>
        <p:spPr>
          <a:xfrm>
            <a:off x="4962525" y="4095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Eligible tasks go to the executor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15A9D8E-8580-4313-9D95-1EA96BB60373}"/>
              </a:ext>
            </a:extLst>
          </p:cNvPr>
          <p:cNvSpPr>
            <a:spLocks noGrp="1"/>
          </p:cNvSpPr>
          <p:nvPr/>
        </p:nvSpPr>
        <p:spPr>
          <a:xfrm>
            <a:off x="7181850" y="31623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E829B-C7A0-4A23-848E-F021F018EDCA}"/>
              </a:ext>
            </a:extLst>
          </p:cNvPr>
          <p:cNvSpPr>
            <a:spLocks noGrp="1"/>
          </p:cNvSpPr>
          <p:nvPr/>
        </p:nvSpPr>
        <p:spPr>
          <a:xfrm>
            <a:off x="7181850" y="2476500"/>
            <a:ext cx="400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043666-B04D-484D-9923-AB2951658DB2}"/>
              </a:ext>
            </a:extLst>
          </p:cNvPr>
          <p:cNvSpPr>
            <a:spLocks noGrp="1"/>
          </p:cNvSpPr>
          <p:nvPr/>
        </p:nvSpPr>
        <p:spPr>
          <a:xfrm>
            <a:off x="7181850" y="36671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53D686-DD5F-490E-83D6-5C95B096083F}"/>
              </a:ext>
            </a:extLst>
          </p:cNvPr>
          <p:cNvSpPr>
            <a:spLocks noGrp="1"/>
          </p:cNvSpPr>
          <p:nvPr/>
        </p:nvSpPr>
        <p:spPr>
          <a:xfrm>
            <a:off x="7181850" y="4095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Workers run task code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64629C-41ED-49C6-9C49-27A70B7E602A}"/>
              </a:ext>
            </a:extLst>
          </p:cNvPr>
          <p:cNvSpPr>
            <a:spLocks noGrp="1"/>
          </p:cNvSpPr>
          <p:nvPr/>
        </p:nvSpPr>
        <p:spPr>
          <a:xfrm>
            <a:off x="9401175" y="31623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DB0E35-82F3-4594-B47C-4755D44CA2EC}"/>
              </a:ext>
            </a:extLst>
          </p:cNvPr>
          <p:cNvSpPr>
            <a:spLocks noGrp="1"/>
          </p:cNvSpPr>
          <p:nvPr/>
        </p:nvSpPr>
        <p:spPr>
          <a:xfrm>
            <a:off x="9401175" y="2476500"/>
            <a:ext cx="400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C7E4B3-B897-4785-AF61-379589766A9E}"/>
              </a:ext>
            </a:extLst>
          </p:cNvPr>
          <p:cNvSpPr>
            <a:spLocks noGrp="1"/>
          </p:cNvSpPr>
          <p:nvPr/>
        </p:nvSpPr>
        <p:spPr>
          <a:xfrm>
            <a:off x="9401175" y="36671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CCCE34-663D-47C4-89AE-474E85A0A3D9}"/>
              </a:ext>
            </a:extLst>
          </p:cNvPr>
          <p:cNvSpPr>
            <a:spLocks noGrp="1"/>
          </p:cNvSpPr>
          <p:nvPr/>
        </p:nvSpPr>
        <p:spPr>
          <a:xfrm>
            <a:off x="9401175" y="4095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State, logs and metrics are recorded</a:t>
            </a:r>
          </a:p>
        </p:txBody>
      </p:sp>
    </p:spTree>
    <p:extLst>
      <p:ext uri="{BB962C8B-B14F-4D97-AF65-F5344CB8AC3E}">
        <p14:creationId xmlns:p14="http://schemas.microsoft.com/office/powerpoint/2010/main" val="119034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1122EE8-29D0-42D6-A800-93DD3DB3382D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Reliability comes from task design—not retries alone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A02E67-4560-410F-85D4-A9775246E20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ED030-4DD6-400A-B4AC-C7F11FE9EC94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Idempotent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D1DF4-801A-47B9-BCE7-C40C49D3487F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476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Running twice produces the same intended result.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A120B-5BF7-4A7D-9A77-29DEB58D0CCA}"/>
              </a:ext>
            </a:extLst>
          </p:cNvPr>
          <p:cNvSpPr>
            <a:spLocks noGrp="1"/>
          </p:cNvSpPr>
          <p:nvPr/>
        </p:nvSpPr>
        <p:spPr>
          <a:xfrm>
            <a:off x="400050" y="3048000"/>
            <a:ext cx="4762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5723B-F898-4170-BA31-9A21A2DBE772}"/>
              </a:ext>
            </a:extLst>
          </p:cNvPr>
          <p:cNvSpPr>
            <a:spLocks noGrp="1"/>
          </p:cNvSpPr>
          <p:nvPr/>
        </p:nvSpPr>
        <p:spPr>
          <a:xfrm>
            <a:off x="6238875" y="166687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Atomic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FD2B1-58E3-4938-89CB-0E552555EE23}"/>
              </a:ext>
            </a:extLst>
          </p:cNvPr>
          <p:cNvSpPr>
            <a:spLocks noGrp="1"/>
          </p:cNvSpPr>
          <p:nvPr/>
        </p:nvSpPr>
        <p:spPr>
          <a:xfrm>
            <a:off x="6238875" y="2190750"/>
            <a:ext cx="476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 task finishes completely or leaves no partial state.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CE892-604A-42B9-B6B2-E421188C140B}"/>
              </a:ext>
            </a:extLst>
          </p:cNvPr>
          <p:cNvSpPr>
            <a:spLocks noGrp="1"/>
          </p:cNvSpPr>
          <p:nvPr/>
        </p:nvSpPr>
        <p:spPr>
          <a:xfrm>
            <a:off x="6238875" y="3048000"/>
            <a:ext cx="4762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0DC98-A2E7-4F92-B368-DC58E9BCEE15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2B253-E505-439E-95D8-8ADE7446D706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476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Timeouts, pools and concurrency prevent resource runaway.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C9E2CB-D040-4AE8-B4A4-17BEDC755B1C}"/>
              </a:ext>
            </a:extLst>
          </p:cNvPr>
          <p:cNvSpPr>
            <a:spLocks noGrp="1"/>
          </p:cNvSpPr>
          <p:nvPr/>
        </p:nvSpPr>
        <p:spPr>
          <a:xfrm>
            <a:off x="400050" y="5238750"/>
            <a:ext cx="4762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0A93F1-1E51-4EBC-A00C-72400FEDB98D}"/>
              </a:ext>
            </a:extLst>
          </p:cNvPr>
          <p:cNvSpPr>
            <a:spLocks noGrp="1"/>
          </p:cNvSpPr>
          <p:nvPr/>
        </p:nvSpPr>
        <p:spPr>
          <a:xfrm>
            <a:off x="6238875" y="38576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D56EB-5A9D-4799-8C21-1AD59B43A551}"/>
              </a:ext>
            </a:extLst>
          </p:cNvPr>
          <p:cNvSpPr>
            <a:spLocks noGrp="1"/>
          </p:cNvSpPr>
          <p:nvPr/>
        </p:nvSpPr>
        <p:spPr>
          <a:xfrm>
            <a:off x="6238875" y="4381500"/>
            <a:ext cx="476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Logs, metrics and alerts explain what happened.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0A2354-21D1-4732-95F0-241C102EE6C4}"/>
              </a:ext>
            </a:extLst>
          </p:cNvPr>
          <p:cNvSpPr>
            <a:spLocks noGrp="1"/>
          </p:cNvSpPr>
          <p:nvPr/>
        </p:nvSpPr>
        <p:spPr>
          <a:xfrm>
            <a:off x="6238875" y="5238750"/>
            <a:ext cx="4762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759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A4C6E34-56E8-4352-A7A6-7C3B251467FC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Example: load a Snowflake table into SQL Server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8523FD-B856-4287-A5FC-6BCE77AF45E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ECC03C-4F85-48D9-A9A1-1B5D5C04F0E8}"/>
              </a:ext>
            </a:extLst>
          </p:cNvPr>
          <p:cNvSpPr>
            <a:spLocks noGrp="1"/>
          </p:cNvSpPr>
          <p:nvPr/>
        </p:nvSpPr>
        <p:spPr>
          <a:xfrm>
            <a:off x="2686050" y="2562225"/>
            <a:ext cx="1143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B165AC-626E-455B-8B58-2F01B14DCCBA}"/>
              </a:ext>
            </a:extLst>
          </p:cNvPr>
          <p:cNvSpPr>
            <a:spLocks noGrp="1"/>
          </p:cNvSpPr>
          <p:nvPr/>
        </p:nvSpPr>
        <p:spPr>
          <a:xfrm>
            <a:off x="6076950" y="2562225"/>
            <a:ext cx="1143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81FB9-2006-48EE-8369-FBF9BEAC41A5}"/>
              </a:ext>
            </a:extLst>
          </p:cNvPr>
          <p:cNvSpPr>
            <a:spLocks noGrp="1"/>
          </p:cNvSpPr>
          <p:nvPr/>
        </p:nvSpPr>
        <p:spPr>
          <a:xfrm>
            <a:off x="9467850" y="2562225"/>
            <a:ext cx="1143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4EE11C-8EEC-4C66-8F32-A07853A8B094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A22CD-71A0-4DDB-A466-07044F29B1AA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019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Snowflake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96330-EE5B-43A8-84E2-DD20A154C4CF}"/>
              </a:ext>
            </a:extLst>
          </p:cNvPr>
          <p:cNvSpPr>
            <a:spLocks noGrp="1"/>
          </p:cNvSpPr>
          <p:nvPr/>
        </p:nvSpPr>
        <p:spPr>
          <a:xfrm>
            <a:off x="514350" y="254317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ANALYTICS.ORDERS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9CD21D-27E4-4B70-B155-A4126492E51C}"/>
              </a:ext>
            </a:extLst>
          </p:cNvPr>
          <p:cNvSpPr>
            <a:spLocks noGrp="1"/>
          </p:cNvSpPr>
          <p:nvPr/>
        </p:nvSpPr>
        <p:spPr>
          <a:xfrm>
            <a:off x="3829050" y="1952625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788D22-9C88-4E28-B795-F3159F6F763B}"/>
              </a:ext>
            </a:extLst>
          </p:cNvPr>
          <p:cNvSpPr>
            <a:spLocks noGrp="1"/>
          </p:cNvSpPr>
          <p:nvPr/>
        </p:nvSpPr>
        <p:spPr>
          <a:xfrm>
            <a:off x="3943350" y="2095500"/>
            <a:ext cx="2019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C8719C-FE46-44C8-91E3-F89D92CE2D2A}"/>
              </a:ext>
            </a:extLst>
          </p:cNvPr>
          <p:cNvSpPr>
            <a:spLocks noGrp="1"/>
          </p:cNvSpPr>
          <p:nvPr/>
        </p:nvSpPr>
        <p:spPr>
          <a:xfrm>
            <a:off x="3943350" y="254317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Read in bounded chunks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F0A6FD-BB7A-4B23-801D-BB53D7D7F917}"/>
              </a:ext>
            </a:extLst>
          </p:cNvPr>
          <p:cNvSpPr>
            <a:spLocks noGrp="1"/>
          </p:cNvSpPr>
          <p:nvPr/>
        </p:nvSpPr>
        <p:spPr>
          <a:xfrm>
            <a:off x="7219950" y="1952625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D0874-817F-4081-ACB1-D7932930D71B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2019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+ validate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39DDB-7656-4083-8912-353586090D0E}"/>
              </a:ext>
            </a:extLst>
          </p:cNvPr>
          <p:cNvSpPr>
            <a:spLocks noGrp="1"/>
          </p:cNvSpPr>
          <p:nvPr/>
        </p:nvSpPr>
        <p:spPr>
          <a:xfrm>
            <a:off x="7334250" y="254317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Check schema and row count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E3D837A-4E44-4D92-9276-D399493BBAF2}"/>
              </a:ext>
            </a:extLst>
          </p:cNvPr>
          <p:cNvSpPr>
            <a:spLocks noGrp="1"/>
          </p:cNvSpPr>
          <p:nvPr/>
        </p:nvSpPr>
        <p:spPr>
          <a:xfrm>
            <a:off x="10610850" y="1952625"/>
            <a:ext cx="1190625" cy="1238250"/>
          </a:xfrm>
          <a:prstGeom prst="roundRect">
            <a:avLst>
              <a:gd name="adj" fmla="val 6400"/>
            </a:avLst>
          </a:prstGeom>
          <a:solidFill>
            <a:srgbClr val="2A9D6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AF7470-6F61-4214-A806-B2FB4C4E331F}"/>
              </a:ext>
            </a:extLst>
          </p:cNvPr>
          <p:cNvSpPr>
            <a:spLocks noGrp="1"/>
          </p:cNvSpPr>
          <p:nvPr/>
        </p:nvSpPr>
        <p:spPr>
          <a:xfrm>
            <a:off x="10725150" y="2095500"/>
            <a:ext cx="9620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9BDBB-5138-4F1F-884F-25D3DACE71BC}"/>
              </a:ext>
            </a:extLst>
          </p:cNvPr>
          <p:cNvSpPr>
            <a:spLocks noGrp="1"/>
          </p:cNvSpPr>
          <p:nvPr/>
        </p:nvSpPr>
        <p:spPr>
          <a:xfrm>
            <a:off x="10725150" y="2543175"/>
            <a:ext cx="962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dbo.orders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FD651D-25F7-4C9F-955A-650A2FC18CF2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Airflow task pattern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B093DA-40CF-4B92-A55F-9814AFF9B15F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695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 → validate → load_staging → merge_target → 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2CA923-7BDD-4734-8C19-87A99BFF82A4}"/>
              </a:ext>
            </a:extLst>
          </p:cNvPr>
          <p:cNvSpPr>
            <a:spLocks noGrp="1"/>
          </p:cNvSpPr>
          <p:nvPr/>
        </p:nvSpPr>
        <p:spPr>
          <a:xfrm>
            <a:off x="7905750" y="37147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Production safeguards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E73ED8-49C4-412A-AC4F-13FDE27A5EE3}"/>
              </a:ext>
            </a:extLst>
          </p:cNvPr>
          <p:cNvSpPr>
            <a:spLocks noGrp="1"/>
          </p:cNvSpPr>
          <p:nvPr/>
        </p:nvSpPr>
        <p:spPr>
          <a:xfrm>
            <a:off x="7905750" y="4171950"/>
            <a:ext cx="3429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Incremental watermark</a:t>
            </a: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Batch commits</a:t>
            </a: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Staging-table MERGE</a:t>
            </a: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Source/target count check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E3052-1AFA-4101-B643-752FDE502DA8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76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Use Airflow Connections: snowflake_prod and mssql_prod. Keep credentials out of DAG code.</a:t>
            </a:r>
          </a:p>
        </p:txBody>
      </p:sp>
    </p:spTree>
    <p:extLst>
      <p:ext uri="{BB962C8B-B14F-4D97-AF65-F5344CB8AC3E}">
        <p14:creationId xmlns:p14="http://schemas.microsoft.com/office/powerpoint/2010/main" val="114871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532252-1C91-480A-ABF9-9FC8860A8A9F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Example DAG: copy Snowflake rows in controlled batches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6C11F-30BD-4B2D-B5D4-1B7533EA775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12552-CB5A-4348-917D-9D12C5DF970F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7620000" cy="476250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B7B98-8FDA-4210-ACF7-C6B5822AE299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7191375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airflow.sdk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import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dag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, task,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get_current_context</a:t>
            </a:r>
            <a:endParaRPr sz="1200" dirty="0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airflow.providers.snowflake.hooks.snowflake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import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SnowflakeHook</a:t>
            </a:r>
            <a:endParaRPr sz="1200" dirty="0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airflow.providers.microsoft.mssql.hooks.mssql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import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MsSqlHook</a:t>
            </a:r>
            <a:endParaRPr sz="1200" dirty="0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endParaRPr sz="1200" dirty="0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@dag(schedule="0 2 * * *", catchup=False)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def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load_orders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@task(retries=2)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def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copy_rows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start =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get_current_context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()["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data_interval_start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"]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sf =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SnowflakeHook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snowflake_conn_id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="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snowflake_prod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MsSqlHook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mssql_conn_id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="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mssql_prod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sql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= "SELECT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order_id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, amount,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updated_at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FROM " \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  "ANALYTICS.ORDERS WHERE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updated_at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&gt;= %s"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columns = ["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order_id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", "amount", 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updated_at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"]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with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sf.get_conn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 as conn: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cur =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conn.cursor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cur.execute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sql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, (start,))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while rows :=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cur.fetchmany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(5000):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ms.insert_rows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("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dbo.orders_stage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", rows,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target_fields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=columns,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    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commit_every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=5000)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copy_rows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 dirty="0" err="1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load_orders</a:t>
            </a:r>
            <a:r>
              <a:rPr sz="1200" dirty="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41168-316B-4780-8FD8-98DFEA2A00AD}"/>
              </a:ext>
            </a:extLst>
          </p:cNvPr>
          <p:cNvSpPr>
            <a:spLocks noGrp="1"/>
          </p:cNvSpPr>
          <p:nvPr/>
        </p:nvSpPr>
        <p:spPr>
          <a:xfrm>
            <a:off x="8429625" y="1476375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86B21-06FC-4E30-B96B-D81DD6C28B30}"/>
              </a:ext>
            </a:extLst>
          </p:cNvPr>
          <p:cNvSpPr>
            <a:spLocks noGrp="1"/>
          </p:cNvSpPr>
          <p:nvPr/>
        </p:nvSpPr>
        <p:spPr>
          <a:xfrm>
            <a:off x="8429625" y="2047875"/>
            <a:ext cx="31432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Connections hold credentials</a:t>
            </a:r>
          </a:p>
          <a:p>
            <a:endParaRPr sz="142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The data interval drives incremental extraction</a:t>
            </a:r>
          </a:p>
          <a:p>
            <a:endParaRPr sz="142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fetchmany() limits worker memory</a:t>
            </a:r>
          </a:p>
          <a:p>
            <a:endParaRPr sz="142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insert_rows() commits in batches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FD389-A7DA-406D-A455-0C127495F462}"/>
              </a:ext>
            </a:extLst>
          </p:cNvPr>
          <p:cNvSpPr>
            <a:spLocks noGrp="1"/>
          </p:cNvSpPr>
          <p:nvPr/>
        </p:nvSpPr>
        <p:spPr>
          <a:xfrm>
            <a:off x="8429625" y="5048250"/>
            <a:ext cx="3048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26CDC-0D38-47CC-AB07-5B9C6038515D}"/>
              </a:ext>
            </a:extLst>
          </p:cNvPr>
          <p:cNvSpPr>
            <a:spLocks noGrp="1"/>
          </p:cNvSpPr>
          <p:nvPr/>
        </p:nvSpPr>
        <p:spPr>
          <a:xfrm>
            <a:off x="8429625" y="5238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For large volumes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6F918-4FD0-4935-8498-6C8274132098}"/>
              </a:ext>
            </a:extLst>
          </p:cNvPr>
          <p:cNvSpPr>
            <a:spLocks noGrp="1"/>
          </p:cNvSpPr>
          <p:nvPr/>
        </p:nvSpPr>
        <p:spPr>
          <a:xfrm>
            <a:off x="8429625" y="55816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Unload to files, then use SQL Server bulk loading.</a:t>
            </a:r>
          </a:p>
        </p:txBody>
      </p:sp>
    </p:spTree>
    <p:extLst>
      <p:ext uri="{BB962C8B-B14F-4D97-AF65-F5344CB8AC3E}">
        <p14:creationId xmlns:p14="http://schemas.microsoft.com/office/powerpoint/2010/main" val="193776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9705041-E7E8-4088-BDBC-3B35996D861E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the transfer on dedicated Celery worker pods in EKS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BEE06-57B0-4C0D-94E5-1D0AC5DE61A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4A434-1CA5-44CB-B490-302AA0FCC2F5}"/>
              </a:ext>
            </a:extLst>
          </p:cNvPr>
          <p:cNvSpPr>
            <a:spLocks noGrp="1"/>
          </p:cNvSpPr>
          <p:nvPr/>
        </p:nvSpPr>
        <p:spPr>
          <a:xfrm>
            <a:off x="2667000" y="3143250"/>
            <a:ext cx="9525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FE091-8678-4EDB-A977-A77AD1BA359D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9525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EBD59-A41B-4A53-A1FA-0FE6D832D940}"/>
              </a:ext>
            </a:extLst>
          </p:cNvPr>
          <p:cNvSpPr>
            <a:spLocks noGrp="1"/>
          </p:cNvSpPr>
          <p:nvPr/>
        </p:nvSpPr>
        <p:spPr>
          <a:xfrm>
            <a:off x="8763000" y="3143250"/>
            <a:ext cx="9525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7267B5-515C-4C87-BC4C-DFEC9E77C45C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F9709-5735-4D53-8B60-7070EECBCCB8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33E56F-64CF-47B2-AA34-151244069E68}"/>
              </a:ext>
            </a:extLst>
          </p:cNvPr>
          <p:cNvSpPr>
            <a:spLocks noGrp="1"/>
          </p:cNvSpPr>
          <p:nvPr/>
        </p:nvSpPr>
        <p:spPr>
          <a:xfrm>
            <a:off x="514350" y="31242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Queues ready tasks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B57686-A1E0-4923-A111-94BA0F31FC14}"/>
              </a:ext>
            </a:extLst>
          </p:cNvPr>
          <p:cNvSpPr>
            <a:spLocks noGrp="1"/>
          </p:cNvSpPr>
          <p:nvPr/>
        </p:nvSpPr>
        <p:spPr>
          <a:xfrm>
            <a:off x="3619500" y="24765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0486D-E3C0-40EF-99A1-97FE9DAE6C0D}"/>
              </a:ext>
            </a:extLst>
          </p:cNvPr>
          <p:cNvSpPr>
            <a:spLocks noGrp="1"/>
          </p:cNvSpPr>
          <p:nvPr/>
        </p:nvSpPr>
        <p:spPr>
          <a:xfrm>
            <a:off x="3733800" y="26479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Redis / RabbitMQ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9127E-90ED-46FF-AB52-0833BB80CD3F}"/>
              </a:ext>
            </a:extLst>
          </p:cNvPr>
          <p:cNvSpPr>
            <a:spLocks noGrp="1"/>
          </p:cNvSpPr>
          <p:nvPr/>
        </p:nvSpPr>
        <p:spPr>
          <a:xfrm>
            <a:off x="3733800" y="31242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Holds task messages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7FB059-DAC1-4D38-9810-0BCCA5943B2E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3D8D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3749E6-D24E-4630-BA9D-952CBFC74580}"/>
              </a:ext>
            </a:extLst>
          </p:cNvPr>
          <p:cNvSpPr>
            <a:spLocks noGrp="1"/>
          </p:cNvSpPr>
          <p:nvPr/>
        </p:nvSpPr>
        <p:spPr>
          <a:xfrm>
            <a:off x="6781800" y="26479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Celery worker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AA43ED-B283-4B1D-8723-D105E0ADEB78}"/>
              </a:ext>
            </a:extLst>
          </p:cNvPr>
          <p:cNvSpPr>
            <a:spLocks noGrp="1"/>
          </p:cNvSpPr>
          <p:nvPr/>
        </p:nvSpPr>
        <p:spPr>
          <a:xfrm>
            <a:off x="6781800" y="31242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Runs Python transfer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036094-9CDE-4811-8D57-F2CDA9DDD8FD}"/>
              </a:ext>
            </a:extLst>
          </p:cNvPr>
          <p:cNvSpPr>
            <a:spLocks noGrp="1"/>
          </p:cNvSpPr>
          <p:nvPr/>
        </p:nvSpPr>
        <p:spPr>
          <a:xfrm>
            <a:off x="9715500" y="2476500"/>
            <a:ext cx="2047875" cy="1333500"/>
          </a:xfrm>
          <a:prstGeom prst="roundRect">
            <a:avLst>
              <a:gd name="adj" fmla="val 5714"/>
            </a:avLst>
          </a:prstGeom>
          <a:solidFill>
            <a:srgbClr val="2A9D6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4F6065-A2BF-4B8B-B894-479F84162F17}"/>
              </a:ext>
            </a:extLst>
          </p:cNvPr>
          <p:cNvSpPr>
            <a:spLocks noGrp="1"/>
          </p:cNvSpPr>
          <p:nvPr/>
        </p:nvSpPr>
        <p:spPr>
          <a:xfrm>
            <a:off x="9829800" y="2647950"/>
            <a:ext cx="18192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Databases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F687D9-88F9-49F0-B122-C82DB0691F2A}"/>
              </a:ext>
            </a:extLst>
          </p:cNvPr>
          <p:cNvSpPr>
            <a:spLocks noGrp="1"/>
          </p:cNvSpPr>
          <p:nvPr/>
        </p:nvSpPr>
        <p:spPr>
          <a:xfrm>
            <a:off x="9829800" y="3124200"/>
            <a:ext cx="1819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Snowflake + SQL Server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A78E2-7413-42A8-9F03-F03E36D26FDA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worker needs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47B1B-E832-4A37-9938-1B4C12CD6914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4953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+ Celery provider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Snowflake + MSSQL providers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 access to both databases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same DAG bundle and configuration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7549DE-8910-4221-8BAC-AD1841DD7B3A}"/>
              </a:ext>
            </a:extLst>
          </p:cNvPr>
          <p:cNvSpPr>
            <a:spLocks noGrp="1"/>
          </p:cNvSpPr>
          <p:nvPr/>
        </p:nvSpPr>
        <p:spPr>
          <a:xfrm>
            <a:off x="6667500" y="447675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Dedicated 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398152-3075-4978-809D-31F12C04D86B}"/>
              </a:ext>
            </a:extLst>
          </p:cNvPr>
          <p:cNvSpPr>
            <a:spLocks noGrp="1"/>
          </p:cNvSpPr>
          <p:nvPr/>
        </p:nvSpPr>
        <p:spPr>
          <a:xfrm>
            <a:off x="6667500" y="49530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@task(queue="snowflake_to_mssql")</a:t>
            </a:r>
          </a:p>
          <a:p>
            <a:endParaRPr sz="142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celery worker -q snowflake_to_mssql -c 2</a:t>
            </a:r>
          </a:p>
        </p:txBody>
      </p:sp>
    </p:spTree>
    <p:extLst>
      <p:ext uri="{BB962C8B-B14F-4D97-AF65-F5344CB8AC3E}">
        <p14:creationId xmlns:p14="http://schemas.microsoft.com/office/powerpoint/2010/main" val="16067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9270A6-3085-492A-AEFE-1B91956C162D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 providers once; keep credentials in Connections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B907D7-BBFD-4473-8731-C8E3B794819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4442E7-F956-4466-81E6-79C7C4201AE0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6429375" cy="371475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42D4F-A991-4B4E-818F-D0EB801FFFBD}"/>
              </a:ext>
            </a:extLst>
          </p:cNvPr>
          <p:cNvSpPr>
            <a:spLocks noGrp="1"/>
          </p:cNvSpPr>
          <p:nvPr/>
        </p:nvSpPr>
        <p:spPr>
          <a:xfrm>
            <a:off x="628650" y="1628775"/>
            <a:ext cx="5972175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pip install "apache-airflow[celery]"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apache-airflow-providers-snowflake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apache-airflow-providers-microsoft-mssql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redis</a:t>
            </a:r>
          </a:p>
          <a:p>
            <a:endParaRPr sz="1275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AIRFLOW__CORE__EXECUTOR=CeleryExecutor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AIRFLOW__CELERY__BROKER_URL=redis://redis:6379/0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AIRFLOW__CELERY__RESULT_BACKEND=\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db+postgresql://airflow:***@postgres/airflow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3A38CD-949B-4106-A9CD-27A637134DBD}"/>
              </a:ext>
            </a:extLst>
          </p:cNvPr>
          <p:cNvSpPr>
            <a:spLocks noGrp="1"/>
          </p:cNvSpPr>
          <p:nvPr/>
        </p:nvSpPr>
        <p:spPr>
          <a:xfrm>
            <a:off x="7381875" y="161925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snowflake_prod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6C8DC-7159-4315-AEDF-DFE803C2A8A2}"/>
              </a:ext>
            </a:extLst>
          </p:cNvPr>
          <p:cNvSpPr>
            <a:spLocks noGrp="1"/>
          </p:cNvSpPr>
          <p:nvPr/>
        </p:nvSpPr>
        <p:spPr>
          <a:xfrm>
            <a:off x="7381875" y="2047875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Account, warehouse, database, schema, role and authentication.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F9670-119D-4BA2-8AAC-3E7D5649C9CB}"/>
              </a:ext>
            </a:extLst>
          </p:cNvPr>
          <p:cNvSpPr>
            <a:spLocks noGrp="1"/>
          </p:cNvSpPr>
          <p:nvPr/>
        </p:nvSpPr>
        <p:spPr>
          <a:xfrm>
            <a:off x="7381875" y="314325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mssql_prod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D13B7B-A490-40A4-8743-8409BBBBB8EF}"/>
              </a:ext>
            </a:extLst>
          </p:cNvPr>
          <p:cNvSpPr>
            <a:spLocks noGrp="1"/>
          </p:cNvSpPr>
          <p:nvPr/>
        </p:nvSpPr>
        <p:spPr>
          <a:xfrm>
            <a:off x="7381875" y="3571875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 Server host, database, port, login and encrypted secret.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44B337-0B5C-49D6-B07C-007C990D8E25}"/>
              </a:ext>
            </a:extLst>
          </p:cNvPr>
          <p:cNvSpPr>
            <a:spLocks noGrp="1"/>
          </p:cNvSpPr>
          <p:nvPr/>
        </p:nvSpPr>
        <p:spPr>
          <a:xfrm>
            <a:off x="7381875" y="476250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Least privilege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E90362-E785-4131-8680-8C337BB69867}"/>
              </a:ext>
            </a:extLst>
          </p:cNvPr>
          <p:cNvSpPr>
            <a:spLocks noGrp="1"/>
          </p:cNvSpPr>
          <p:nvPr/>
        </p:nvSpPr>
        <p:spPr>
          <a:xfrm>
            <a:off x="7381875" y="5162550"/>
            <a:ext cx="400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Snowflake: SELECT only</a:t>
            </a:r>
          </a:p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 Server: staging, target and audit permissions</a:t>
            </a:r>
          </a:p>
        </p:txBody>
      </p:sp>
    </p:spTree>
    <p:extLst>
      <p:ext uri="{BB962C8B-B14F-4D97-AF65-F5344CB8AC3E}">
        <p14:creationId xmlns:p14="http://schemas.microsoft.com/office/powerpoint/2010/main" val="678169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94F890-B9B2-48EE-860F-AEF74DADAEDA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run-specific staging table makes retries safe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5081E6-AB14-40E7-A8BB-4C2F5B5E0E2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575E4-4436-4E02-8463-4C77BEE7749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905500" cy="419100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938FE-5879-4D17-B8B0-853C0C87B366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5448300" cy="388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CREATE TABLE dbo.orders_stage (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load_run_id  VARCHAR(250) NOT NULL,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order_id     BIGINT NOT NULL,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customer_id  BIGINT NOT NULL,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amount       DECIMAL(18,2) NOT NULL,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order_status VARCHAR(30) NOT NULL,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updated_at   DATETIME2(6) NOT NULL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endParaRPr sz="1350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CREATE INDEX IX_orders_stage_run</a:t>
            </a:r>
          </a:p>
          <a:p>
            <a:pPr>
              <a:def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ON dbo.orders_stage(load_run_id);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5CF38-893E-42F5-8DA6-6ABF23352402}"/>
              </a:ext>
            </a:extLst>
          </p:cNvPr>
          <p:cNvSpPr>
            <a:spLocks noGrp="1"/>
          </p:cNvSpPr>
          <p:nvPr/>
        </p:nvSpPr>
        <p:spPr>
          <a:xfrm>
            <a:off x="6953250" y="1571625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load_run_id matters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3CBFAB-E86D-4E32-ACDE-D4B7929C92BD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retry first deletes only its own rows</a:t>
            </a:r>
          </a:p>
          <a:p>
            <a:endParaRPr sz="1500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Concurrent runs cannot mix data</a:t>
            </a:r>
          </a:p>
          <a:p>
            <a:endParaRPr sz="1500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Source and staging counts can be compared</a:t>
            </a:r>
          </a:p>
          <a:p>
            <a:endParaRPr sz="1500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MERGE and cleanup can share one transaction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60927-23C1-43E2-B161-10AAF1003B56}"/>
              </a:ext>
            </a:extLst>
          </p:cNvPr>
          <p:cNvSpPr>
            <a:spLocks noGrp="1"/>
          </p:cNvSpPr>
          <p:nvPr/>
        </p:nvSpPr>
        <p:spPr>
          <a:xfrm>
            <a:off x="6953250" y="5048250"/>
            <a:ext cx="4191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B02B6-CFDF-44D3-8B02-0EBBCC94456A}"/>
              </a:ext>
            </a:extLst>
          </p:cNvPr>
          <p:cNvSpPr>
            <a:spLocks noGrp="1"/>
          </p:cNvSpPr>
          <p:nvPr/>
        </p:nvSpPr>
        <p:spPr>
          <a:xfrm>
            <a:off x="6953250" y="52863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Target key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42C10-7A33-4E26-BEC4-3F16C38D242E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66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 stable business or surrogate key such as order_id.</a:t>
            </a:r>
          </a:p>
        </p:txBody>
      </p:sp>
    </p:spTree>
    <p:extLst>
      <p:ext uri="{BB962C8B-B14F-4D97-AF65-F5344CB8AC3E}">
        <p14:creationId xmlns:p14="http://schemas.microsoft.com/office/powerpoint/2010/main" val="164451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259E73-42A5-4ADD-A7F5-B85F53FFF489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first, then MERGE and commit atomically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70254-CA40-46C9-92F8-788BE0B415B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0604B-D6C0-423D-A44B-A9F06FEFB423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7239000" cy="476250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F11A8-B0E3-4E9F-A689-46BBC5941BFC}"/>
              </a:ext>
            </a:extLst>
          </p:cNvPr>
          <p:cNvSpPr>
            <a:spLocks noGrp="1"/>
          </p:cNvSpPr>
          <p:nvPr/>
        </p:nvSpPr>
        <p:spPr>
          <a:xfrm>
            <a:off x="628650" y="1533525"/>
            <a:ext cx="6781800" cy="445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@task(queue="snowflake_to_mssql")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def merge_and_audit(load):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run_id = load["run_id"]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expected = load["source_count"]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hook = MsSqlHook(mssql_conn_id="mssql_prod")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conn = hook.get_conn()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cur = conn.cursor()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try: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cur.execute(COUNT_STAGE_SQL, (run_id,))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actual = cur.fetchone()[0]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if actual != expected: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raise ValueError(f"count mismatch: {expected} != {actual}")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cur.execute(MERGE_ORDERS_SQL, (run_id,))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cur.execute(WRITE_AUDIT_SQL,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            (run_id, expected, actual))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cur.execute(DELETE_STAGE_SQL, (run_id,))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conn.commit()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except Exception: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conn.rollback()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raise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finally:</a:t>
            </a:r>
          </a:p>
          <a:p>
            <a:pPr>
              <a:def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        cur.close(); conn.close()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F54B9-FAAE-4215-823A-4DFA376D3CF3}"/>
              </a:ext>
            </a:extLst>
          </p:cNvPr>
          <p:cNvSpPr>
            <a:spLocks noGrp="1"/>
          </p:cNvSpPr>
          <p:nvPr/>
        </p:nvSpPr>
        <p:spPr>
          <a:xfrm>
            <a:off x="8143875" y="16668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Transaction boundary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547BF-1FCA-4D11-B095-16982ABEAC32}"/>
              </a:ext>
            </a:extLst>
          </p:cNvPr>
          <p:cNvSpPr>
            <a:spLocks noGrp="1"/>
          </p:cNvSpPr>
          <p:nvPr/>
        </p:nvSpPr>
        <p:spPr>
          <a:xfrm>
            <a:off x="8143875" y="2238375"/>
            <a:ext cx="304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</a:t>
            </a:r>
          </a:p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audit record</a:t>
            </a:r>
          </a:p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staging cleanup</a:t>
            </a:r>
          </a:p>
          <a:p>
            <a:endParaRPr sz="172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59DA1-45CA-4824-880E-D18AAB118157}"/>
              </a:ext>
            </a:extLst>
          </p:cNvPr>
          <p:cNvSpPr>
            <a:spLocks noGrp="1"/>
          </p:cNvSpPr>
          <p:nvPr/>
        </p:nvSpPr>
        <p:spPr>
          <a:xfrm>
            <a:off x="8143875" y="42386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Failure behavior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DD5911-695D-4F06-8AE4-A0D06400515D}"/>
              </a:ext>
            </a:extLst>
          </p:cNvPr>
          <p:cNvSpPr>
            <a:spLocks noGrp="1"/>
          </p:cNvSpPr>
          <p:nvPr/>
        </p:nvSpPr>
        <p:spPr>
          <a:xfrm>
            <a:off x="8143875" y="4714875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Any exception rolls back the target changes. Airflow can retry safely.</a:t>
            </a:r>
          </a:p>
        </p:txBody>
      </p:sp>
    </p:spTree>
    <p:extLst>
      <p:ext uri="{BB962C8B-B14F-4D97-AF65-F5344CB8AC3E}">
        <p14:creationId xmlns:p14="http://schemas.microsoft.com/office/powerpoint/2010/main" val="1379672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54CD018-4B26-490E-886B-39B5B23C9888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 with evidence, then choose the right transfer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85F12-C863-48D5-A322-272C8748D2C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8D8F0-F641-416E-91B4-6ACB6AC338BE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9933F4-C49F-466C-B605-18793BBCB361}"/>
              </a:ext>
            </a:extLst>
          </p:cNvPr>
          <p:cNvSpPr>
            <a:spLocks noGrp="1"/>
          </p:cNvSpPr>
          <p:nvPr/>
        </p:nvSpPr>
        <p:spPr>
          <a:xfrm>
            <a:off x="1047750" y="1428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Connectivity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0CA97-71F3-446E-9D62-F3E63637E163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Test both Connections from the worker image.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F3548-8330-4318-9B50-43862D77164A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7A02E-E5D7-414C-A32C-0CC912E8B0C2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AD4A2-D0BE-4F36-AA33-B9A5B51C33C6}"/>
              </a:ext>
            </a:extLst>
          </p:cNvPr>
          <p:cNvSpPr>
            <a:spLocks noGrp="1"/>
          </p:cNvSpPr>
          <p:nvPr/>
        </p:nvSpPr>
        <p:spPr>
          <a:xfrm>
            <a:off x="3333750" y="2428875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Run one interval; compare source, staging and target.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0F0BE-0DEB-4800-B0A3-CD406600B07A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C83000-617A-4012-AFE5-1A9AD90DDA5B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6B6DA-97D7-4967-BF3E-28232C2FE278}"/>
              </a:ext>
            </a:extLst>
          </p:cNvPr>
          <p:cNvSpPr>
            <a:spLocks noGrp="1"/>
          </p:cNvSpPr>
          <p:nvPr/>
        </p:nvSpPr>
        <p:spPr>
          <a:xfrm>
            <a:off x="3333750" y="3429000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Force a failure after staging; confirm a clean retry.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754D2B-4EA1-41DF-9F0B-ADC4AD2E9ED2}"/>
              </a:ext>
            </a:extLst>
          </p:cNvPr>
          <p:cNvSpPr>
            <a:spLocks noGrp="1"/>
          </p:cNvSpPr>
          <p:nvPr/>
        </p:nvSpPr>
        <p:spPr>
          <a:xfrm>
            <a:off x="400050" y="4429125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F4F98C-85D3-4DDA-B571-A31F74F9AAAE}"/>
              </a:ext>
            </a:extLst>
          </p:cNvPr>
          <p:cNvSpPr>
            <a:spLocks noGrp="1"/>
          </p:cNvSpPr>
          <p:nvPr/>
        </p:nvSpPr>
        <p:spPr>
          <a:xfrm>
            <a:off x="1047750" y="44291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1A8F45-0EE8-49B5-982B-4FB66893CC99}"/>
              </a:ext>
            </a:extLst>
          </p:cNvPr>
          <p:cNvSpPr>
            <a:spLocks noGrp="1"/>
          </p:cNvSpPr>
          <p:nvPr/>
        </p:nvSpPr>
        <p:spPr>
          <a:xfrm>
            <a:off x="3333750" y="4429125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Alert on duration, failures, row-count mismatch and backlog.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20DD9-9DF7-46D1-8492-3D282474E051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3429000" cy="166687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B59F96-A3DE-412F-9D98-0C8D452B7CB4}"/>
              </a:ext>
            </a:extLst>
          </p:cNvPr>
          <p:cNvSpPr>
            <a:spLocks noGrp="1"/>
          </p:cNvSpPr>
          <p:nvPr/>
        </p:nvSpPr>
        <p:spPr>
          <a:xfrm>
            <a:off x="8239125" y="16668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Moderate volume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8A567A-BD22-46B5-9A9C-8600F4E3C1AD}"/>
              </a:ext>
            </a:extLst>
          </p:cNvPr>
          <p:cNvSpPr>
            <a:spLocks noGrp="1"/>
          </p:cNvSpPr>
          <p:nvPr/>
        </p:nvSpPr>
        <p:spPr>
          <a:xfrm>
            <a:off x="8239125" y="2143125"/>
            <a:ext cx="295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fetchmany() + batched insert into staging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D4B451-5FDF-499B-90AC-969F4CBE1037}"/>
              </a:ext>
            </a:extLst>
          </p:cNvPr>
          <p:cNvSpPr>
            <a:spLocks noGrp="1"/>
          </p:cNvSpPr>
          <p:nvPr/>
        </p:nvSpPr>
        <p:spPr>
          <a:xfrm>
            <a:off x="8001000" y="3619500"/>
            <a:ext cx="3429000" cy="1905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378440-7AA5-4F6B-805A-B7755A9762D7}"/>
              </a:ext>
            </a:extLst>
          </p:cNvPr>
          <p:cNvSpPr>
            <a:spLocks noGrp="1"/>
          </p:cNvSpPr>
          <p:nvPr/>
        </p:nvSpPr>
        <p:spPr>
          <a:xfrm>
            <a:off x="8239125" y="38576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Large volume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7D0C92-E04A-4CCB-B087-3BDD29768DA4}"/>
              </a:ext>
            </a:extLst>
          </p:cNvPr>
          <p:cNvSpPr>
            <a:spLocks noGrp="1"/>
          </p:cNvSpPr>
          <p:nvPr/>
        </p:nvSpPr>
        <p:spPr>
          <a:xfrm>
            <a:off x="8239125" y="4333875"/>
            <a:ext cx="2952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Snowflake unload → object storage → SQL Server bulk load</a:t>
            </a:r>
          </a:p>
          <a:p>
            <a:endParaRPr sz="1425" b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Airflow orchestrates; the worker does not relay every row.</a:t>
            </a:r>
          </a:p>
        </p:txBody>
      </p:sp>
    </p:spTree>
    <p:extLst>
      <p:ext uri="{BB962C8B-B14F-4D97-AF65-F5344CB8AC3E}">
        <p14:creationId xmlns:p14="http://schemas.microsoft.com/office/powerpoint/2010/main" val="57620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529814E-F5A7-442B-A9A9-4F882D502E30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EKS deployment starts with one immutable Airflow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D3C63-2506-4497-8D2D-ED5AA433E14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3017D-4A83-4855-9B46-7A380077F38C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905500" cy="3810000"/>
          </a:xfrm>
          <a:prstGeom prst="rect">
            <a:avLst/>
          </a:prstGeom>
          <a:solidFill>
            <a:srgbClr val="12182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16B5D-16DF-4741-8BE3-505AD23BC6D4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5448300" cy="350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FROM apache/airflow:3.3.1</a:t>
            </a:r>
          </a:p>
          <a:p>
            <a:endParaRPr sz="1275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USER airflow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RUN pip install --no-cache-dir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apache-airflow-providers-celery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apache-airflow-providers-snowflake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apache-airflow-providers-microsoft-mssql \</a:t>
            </a: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+  apache-airflow-providers-amazon</a:t>
            </a:r>
          </a:p>
          <a:p>
            <a:endParaRPr sz="1275">
              <a:solidFill>
                <a:srgbClr val="D0EDFA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defRPr>
            </a:pPr>
            <a:r>
              <a:rPr sz="1275">
                <a:solidFill>
                  <a:srgbClr val="D0EDFA"/>
                </a:solidFill>
                <a:latin typeface="Courier New"/>
                <a:ea typeface="Courier New"/>
                <a:cs typeface="Courier New"/>
              </a:rPr>
              <a:t># Build → scan → push to Amazon ECR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F7BF8-2BDB-40DA-BD29-114F38F17F6A}"/>
              </a:ext>
            </a:extLst>
          </p:cNvPr>
          <p:cNvSpPr>
            <a:spLocks noGrp="1"/>
          </p:cNvSpPr>
          <p:nvPr/>
        </p:nvSpPr>
        <p:spPr>
          <a:xfrm>
            <a:off x="6905625" y="1619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Use one image tag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344AC-680E-41EC-9FB1-2232C5670D03}"/>
              </a:ext>
            </a:extLst>
          </p:cNvPr>
          <p:cNvSpPr>
            <a:spLocks noGrp="1"/>
          </p:cNvSpPr>
          <p:nvPr/>
        </p:nvSpPr>
        <p:spPr>
          <a:xfrm>
            <a:off x="6905625" y="2095500"/>
            <a:ext cx="2095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processor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Triggerer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API server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Celery workers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A7710-F179-4744-B781-023D3D599937}"/>
              </a:ext>
            </a:extLst>
          </p:cNvPr>
          <p:cNvSpPr>
            <a:spLocks noGrp="1"/>
          </p:cNvSpPr>
          <p:nvPr/>
        </p:nvSpPr>
        <p:spPr>
          <a:xfrm>
            <a:off x="9382125" y="16192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Helm controls 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148492-2401-4488-A4BD-B2EFB1966A7E}"/>
              </a:ext>
            </a:extLst>
          </p:cNvPr>
          <p:cNvSpPr>
            <a:spLocks noGrp="1"/>
          </p:cNvSpPr>
          <p:nvPr/>
        </p:nvSpPr>
        <p:spPr>
          <a:xfrm>
            <a:off x="9382125" y="2095500"/>
            <a:ext cx="2190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Replicas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Redis broker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Metadata DB</a:t>
            </a:r>
          </a:p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KEDA scaling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07806C-A628-4FB6-95DA-FAC9952BE696}"/>
              </a:ext>
            </a:extLst>
          </p:cNvPr>
          <p:cNvSpPr>
            <a:spLocks noGrp="1"/>
          </p:cNvSpPr>
          <p:nvPr/>
        </p:nvSpPr>
        <p:spPr>
          <a:xfrm>
            <a:off x="6905625" y="4476750"/>
            <a:ext cx="461962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F973D-D119-40D4-B2CA-5D0C0DB8D440}"/>
              </a:ext>
            </a:extLst>
          </p:cNvPr>
          <p:cNvSpPr>
            <a:spLocks noGrp="1"/>
          </p:cNvSpPr>
          <p:nvPr/>
        </p:nvSpPr>
        <p:spPr>
          <a:xfrm>
            <a:off x="6905625" y="4762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2A9D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9D6F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586D3-54EA-4A62-889B-6EE43E598E24}"/>
              </a:ext>
            </a:extLst>
          </p:cNvPr>
          <p:cNvSpPr>
            <a:spLocks noGrp="1"/>
          </p:cNvSpPr>
          <p:nvPr/>
        </p:nvSpPr>
        <p:spPr>
          <a:xfrm>
            <a:off x="8048625" y="47148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helm upgrade --install airflow apache-airflow/airflow -f values.yaml</a:t>
            </a:r>
          </a:p>
        </p:txBody>
      </p:sp>
    </p:spTree>
    <p:extLst>
      <p:ext uri="{BB962C8B-B14F-4D97-AF65-F5344CB8AC3E}">
        <p14:creationId xmlns:p14="http://schemas.microsoft.com/office/powerpoint/2010/main" val="13463104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2894</Words>
  <Application>Microsoft Office PowerPoint</Application>
  <DocSecurity>0</DocSecurity>
  <PresentationFormat>Widescreen</PresentationFormat>
  <Paragraphs>388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Helvetica Neue</vt:lpstr>
      <vt:lpstr>Helvetica Neue Medium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DAGs define the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Nilesh Gaikwad</cp:lastModifiedBy>
  <cp:revision>6</cp:revision>
  <dcterms:created xsi:type="dcterms:W3CDTF">2026-08-30T22:38:24Z</dcterms:created>
  <dcterms:modified xsi:type="dcterms:W3CDTF">2026-09-07T04:17:26Z</dcterms:modified>
</cp:coreProperties>
</file>